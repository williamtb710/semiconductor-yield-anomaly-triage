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269300332d438d" /><Relationship Type="http://schemas.openxmlformats.org/officeDocument/2006/relationships/extended-properties" Target="/docProps/app.xml" Id="R2187e9ecd6a742c4" /><Relationship Type="http://schemas.openxmlformats.org/officeDocument/2006/relationships/officeDocument" Target="/ppt/presentation.xml" Id="R6f7f646615c84756" /></Relationships>
</file>

<file path=ppt/presentation.xml><?xml version="1.0" encoding="utf-8"?>
<p:presentation xmlns:p="http://schemas.openxmlformats.org/presentationml/2006/main">
  <p:sldMasterIdLst>
    <p:sldMasterId xmlns:r="http://schemas.openxmlformats.org/officeDocument/2006/relationships" id="2147483648" r:id="R84f1949319cf4270"/>
  </p:sldMasterIdLst>
  <p:notesMasterIdLst>
    <p:notesMasterId xmlns:r="http://schemas.openxmlformats.org/officeDocument/2006/relationships" r:id="Rff7e4ab8c1b149f9"/>
  </p:notesMasterIdLst>
  <p:sldIdLst>
    <p:sldId xmlns:r="http://schemas.openxmlformats.org/officeDocument/2006/relationships" id="256" r:id="R9e9c644637fa4a57"/>
    <p:sldId xmlns:r="http://schemas.openxmlformats.org/officeDocument/2006/relationships" id="257" r:id="R5f05a91a3fdc44c1"/>
    <p:sldId xmlns:r="http://schemas.openxmlformats.org/officeDocument/2006/relationships" id="258" r:id="R00f0bc809eca44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b317a588b44175" /><Relationship Type="http://schemas.openxmlformats.org/officeDocument/2006/relationships/slideMaster" Target="/ppt/slideMasters/slideMaster1.xml" Id="R84f1949319cf4270" /><Relationship Type="http://schemas.openxmlformats.org/officeDocument/2006/relationships/notesMaster" Target="/ppt/notesMasters/notesMaster1.xml" Id="Rff7e4ab8c1b149f9" /><Relationship Type="http://schemas.openxmlformats.org/officeDocument/2006/relationships/presProps" Target="/ppt/presProps.xml" Id="R8055afe958af45a0" /><Relationship Type="http://schemas.openxmlformats.org/officeDocument/2006/relationships/tableStyles" Target="/ppt/tableStyles.xml" Id="Rd714e65c54df4a05" /><Relationship Type="http://schemas.openxmlformats.org/officeDocument/2006/relationships/slide" Target="/ppt/slides/slide1.xml" Id="R9e9c644637fa4a57" /><Relationship Type="http://schemas.openxmlformats.org/officeDocument/2006/relationships/slide" Target="/ppt/slides/slide2.xml" Id="R5f05a91a3fdc44c1" /><Relationship Type="http://schemas.openxmlformats.org/officeDocument/2006/relationships/slide" Target="/ppt/slides/slide3.xml" Id="R00f0bc809eca44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1396d4897c44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e36df94f554004" /><Relationship Type="http://schemas.openxmlformats.org/officeDocument/2006/relationships/notesMaster" Target="/ppt/notesMasters/notesMaster1.xml" Id="Rf4a7b6849d704c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3cad1c0a0b46c7" /><Relationship Type="http://schemas.openxmlformats.org/officeDocument/2006/relationships/notesMaster" Target="/ppt/notesMasters/notesMaster1.xml" Id="R51c5be979d8e46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0b6024f54947c6" /><Relationship Type="http://schemas.openxmlformats.org/officeDocument/2006/relationships/notesMaster" Target="/ppt/notesMasters/notesMaster1.xml" Id="R483be405d8e041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talk track - part 1</a:t>
            </a:r>
          </a:p>
          <a:p xmlns:a="http://schemas.openxmlformats.org/drawingml/2006/main">
            <a:r>
              <a:t>I framed this as an operational ranking problem, not a generic classifier: if engineers can inspect only ten percent of records, can a model concentrate failures there? The public UCI SECOM data are old and anonymous, so this is a methods case study, not a claim about current fab performance.</a:t>
            </a:r>
          </a:p>
          <a:p xmlns:a="http://schemas.openxmlformats.org/drawingml/2006/main">
            <a:r>
              <a:t/>
            </a:r>
          </a:p>
          <a:p xmlns:a="http://schemas.openxmlformats.org/drawingml/2006/main">
            <a:r>
              <a:t>[Sources]</a:t>
            </a:r>
          </a:p>
          <a:p xmlns:a="http://schemas.openxmlformats.org/drawingml/2006/main">
            <a:r>
              <a:t>- UCI SECOM dataset: https://archive.ics.uci.edu/dataset/179/secom</a:t>
            </a:r>
          </a:p>
          <a:p xmlns:a="http://schemas.openxmlformats.org/drawingml/2006/main">
            <a:r>
              <a:t>- UCI DOI: https://doi.org/10.24432/C54305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talk track - part 2</a:t>
            </a:r>
          </a:p>
          <a:p xmlns:a="http://schemas.openxmlformats.org/drawingml/2006/main">
            <a:r>
              <a:t>I used a chronological holdout as the primary test and a stratified random split only as sensitivity analysis. Under time-aware validation, regularized logistic regression reached 0.206 average precision against 0.054 prevalence, and the top ten percent captured five of seventeen failures. The forest looks better only under random splitting. That ranking reversal is the most important result: validation design materially changes the conclusion.</a:t>
            </a:r>
          </a:p>
          <a:p xmlns:a="http://schemas.openxmlformats.org/drawingml/2006/main">
            <a:r>
              <a:t/>
            </a:r>
          </a:p>
          <a:p xmlns:a="http://schemas.openxmlformats.org/drawingml/2006/main">
            <a:r>
              <a:t>[Sources]</a:t>
            </a:r>
          </a:p>
          <a:p xmlns:a="http://schemas.openxmlformats.org/drawingml/2006/main">
            <a:r>
              <a:t>- Project-generated precision-recall results using the official UCI SECOM files</a:t>
            </a:r>
          </a:p>
          <a:p xmlns:a="http://schemas.openxmlformats.org/drawingml/2006/main">
            <a:r>
              <a:t>- Scikit-learn model evaluation: https://scikit-learn.org/stable/modules/model_evaluation.html</a:t>
            </a:r>
          </a:p>
          <a:p xmlns:a="http://schemas.openxmlformats.org/drawingml/2006/main">
            <a:r>
              <a:t>- Average precision: https://scikit-learn.org/stable/modules/generated/sklearn.metrics.average_precision_score.html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talk track - part 3</a:t>
            </a:r>
          </a:p>
          <a:p xmlns:a="http://schemas.openxmlformats.org/drawingml/2006/main">
            <a:r>
              <a:t>I would deploy this only as a triage hypothesis. All preprocessing was fit on training data, uncertainty is wide, and anonymous variables cannot be called physical root causes. The next step would be prospective validation on newer cohorts with tool, chamber, recipe, product and maintenance context, plus feedback from engineers reviewing the ranked queue. My deployment question is how review capacity and false-alarm costs should determine the operating threshold.</a:t>
            </a:r>
          </a:p>
          <a:p xmlns:a="http://schemas.openxmlformats.org/drawingml/2006/main">
            <a:r>
              <a:t/>
            </a:r>
          </a:p>
          <a:p xmlns:a="http://schemas.openxmlformats.org/drawingml/2006/main">
            <a:r>
              <a:t>[Sources]</a:t>
            </a:r>
          </a:p>
          <a:p xmlns:a="http://schemas.openxmlformats.org/drawingml/2006/main">
            <a:r>
              <a:t>- UCI SECOM dataset: https://archive.ics.uci.edu/dataset/179/secom</a:t>
            </a:r>
          </a:p>
          <a:p xmlns:a="http://schemas.openxmlformats.org/drawingml/2006/main">
            <a:r>
              <a:t>- Scikit-learn Pipeline: https://scikit-learn.org/stable/modules/generated/sklearn.pipeline.Pipeline.html</a:t>
            </a:r>
          </a:p>
          <a:p xmlns:a="http://schemas.openxmlformats.org/drawingml/2006/main">
            <a:r>
              <a:t>- Decision threshold guidance: https://scikit-learn.org/stable/modules/classification_threshold.html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62d12134d74b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bbfc2d92464ef9" /><Relationship Type="http://schemas.openxmlformats.org/officeDocument/2006/relationships/slideLayout" Target="/ppt/slideLayouts/slideLayout1.xml" Id="R9a426b941bd240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426b941bd240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04cf3c24164482" /><Relationship Type="http://schemas.openxmlformats.org/officeDocument/2006/relationships/image" Target="/ppt/media/image.png" Id="R3d9dbd15c7af4002" /><Relationship Type="http://schemas.openxmlformats.org/officeDocument/2006/relationships/notesSlide" Target="/ppt/notesSlides/notesSlide1.xml" Id="R87a397ed59174b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61b69327b04f95" /><Relationship Type="http://schemas.openxmlformats.org/officeDocument/2006/relationships/image" Target="/ppt/media/image2.png" Id="R93df7a505e804b70" /><Relationship Type="http://schemas.openxmlformats.org/officeDocument/2006/relationships/notesSlide" Target="/ppt/notesSlides/notesSlide2.xml" Id="Rd58f58fbec8d47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6e1c55ab8b40a1" /><Relationship Type="http://schemas.openxmlformats.org/officeDocument/2006/relationships/notesSlide" Target="/ppt/notesSlides/notesSlide3.xml" Id="R9dfec27c2afa419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3C837CC-37E9-4334-9A8E-D56947632B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B1ED58-5C28-43BB-A1B4-DAB054573464}"/>
              </a:ext>
            </a:extLst>
          </p:cNvPr>
          <p:cNvSpPr>
            <a:spLocks xmlns:a="http://schemas.openxmlformats.org/drawingml/2006/main" noGrp="1"/>
          </p:cNvSpPr>
          <p:nvPr/>
        </p:nvSpPr>
        <p:spPr>
          <a:xfrm xmlns:a="http://schemas.openxmlformats.org/drawingml/2006/main">
            <a:off x="571500" y="514350"/>
            <a:ext cx="1000125" cy="66675"/>
          </a:xfrm>
          <a:prstGeom xmlns:a="http://schemas.openxmlformats.org/drawingml/2006/main" prst="roundRect">
            <a:avLst>
              <a:gd name="adj" fmla="val 28571"/>
            </a:avLst>
          </a:prstGeom>
          <a:solidFill xmlns:a="http://schemas.openxmlformats.org/drawingml/2006/main">
            <a:srgbClr val="155EE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85A670-9C9C-48B7-9AC9-8674995859C7}"/>
              </a:ext>
            </a:extLst>
          </p:cNvPr>
          <p:cNvSpPr>
            <a:spLocks xmlns:a="http://schemas.openxmlformats.org/drawingml/2006/main" noGrp="1"/>
          </p:cNvSpPr>
          <p:nvPr/>
        </p:nvSpPr>
        <p:spPr>
          <a:xfrm xmlns:a="http://schemas.openxmlformats.org/drawingml/2006/main">
            <a:off x="571500" y="819150"/>
            <a:ext cx="53340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983"/>
          </a:bodyPr>
          <a:lstStyle xmlns:a="http://schemas.openxmlformats.org/drawingml/2006/main"/>
          <a:p xmlns:a="http://schemas.openxmlformats.org/drawingml/2006/main">
            <a:pPr algn="l">
              <a:defRPr sz="4650" b="1">
                <a:solidFill>
                  <a:srgbClr val="111827"/>
                </a:solidFill>
                <a:latin typeface="Aptos"/>
                <a:ea typeface="Aptos"/>
                <a:cs typeface="Aptos"/>
              </a:defRPr>
            </a:pPr>
            <a:r>
              <a:rPr sz="4650" b="1">
                <a:solidFill>
                  <a:srgbClr val="111827"/>
                </a:solidFill>
                <a:latin typeface="Aptos"/>
                <a:ea typeface="Aptos"/>
                <a:cs typeface="Aptos"/>
              </a:rPr>
              <a:t>Semiconductor Process Yield &amp; Anomaly Triage</a:t>
            </a:r>
          </a:p>
        </p:txBody>
      </p:sp>
      <p:sp>
        <p:nvSpPr>
          <p:cNvPr id="4" name="">
            <a:extLst xmlns:a="http://schemas.openxmlformats.org/drawingml/2006/main">
              <a:ext uri="{FF2B5EF4-FFF2-40B4-BE49-F238E27FC236}">
                <a16:creationId xmlns:a16="http://schemas.microsoft.com/office/drawing/2014/main" id="{9B10400C-C7A3-4ED9-A54F-ED8A76096729}"/>
              </a:ext>
            </a:extLst>
          </p:cNvPr>
          <p:cNvSpPr>
            <a:spLocks xmlns:a="http://schemas.openxmlformats.org/drawingml/2006/main" noGrp="1"/>
          </p:cNvSpPr>
          <p:nvPr/>
        </p:nvSpPr>
        <p:spPr>
          <a:xfrm xmlns:a="http://schemas.openxmlformats.org/drawingml/2006/main">
            <a:off x="571500" y="2619375"/>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5B6472"/>
                </a:solidFill>
                <a:latin typeface="Aptos"/>
                <a:ea typeface="Aptos"/>
                <a:cs typeface="Aptos"/>
              </a:defRPr>
            </a:pPr>
            <a:r>
              <a:rPr sz="2025" b="0">
                <a:solidFill>
                  <a:srgbClr val="5B6472"/>
                </a:solidFill>
                <a:latin typeface="Aptos"/>
                <a:ea typeface="Aptos"/>
                <a:cs typeface="Aptos"/>
              </a:rPr>
              <a:t>Rare-event ranking under small-n, high-dimensional manufacturing constraints</a:t>
            </a:r>
          </a:p>
        </p:txBody>
      </p:sp>
      <p:sp>
        <p:nvSpPr>
          <p:cNvPr id="5" name="">
            <a:extLst xmlns:a="http://schemas.openxmlformats.org/drawingml/2006/main">
              <a:ext uri="{FF2B5EF4-FFF2-40B4-BE49-F238E27FC236}">
                <a16:creationId xmlns:a16="http://schemas.microsoft.com/office/drawing/2014/main" id="{BD2D7A8A-ACDB-4F5B-913B-39FA22128AA8}"/>
              </a:ext>
            </a:extLst>
          </p:cNvPr>
          <p:cNvSpPr>
            <a:spLocks xmlns:a="http://schemas.openxmlformats.org/drawingml/2006/main" noGrp="1"/>
          </p:cNvSpPr>
          <p:nvPr/>
        </p:nvSpPr>
        <p:spPr>
          <a:xfrm xmlns:a="http://schemas.openxmlformats.org/drawingml/2006/main">
            <a:off x="571500" y="3571875"/>
            <a:ext cx="5095875" cy="1257300"/>
          </a:xfrm>
          <a:prstGeom xmlns:a="http://schemas.openxmlformats.org/drawingml/2006/main" prst="roundRect">
            <a:avLst>
              <a:gd name="adj" fmla="val 12121"/>
            </a:avLst>
          </a:prstGeom>
          <a:solidFill xmlns:a="http://schemas.openxmlformats.org/drawingml/2006/main">
            <a:srgbClr val="F4F7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4CAA74-0255-412F-B4B3-7FFC18F8D668}"/>
              </a:ext>
            </a:extLst>
          </p:cNvPr>
          <p:cNvSpPr>
            <a:spLocks xmlns:a="http://schemas.openxmlformats.org/drawingml/2006/main" noGrp="1"/>
          </p:cNvSpPr>
          <p:nvPr/>
        </p:nvSpPr>
        <p:spPr>
          <a:xfrm xmlns:a="http://schemas.openxmlformats.org/drawingml/2006/main">
            <a:off x="819150" y="37623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155EEF"/>
                </a:solidFill>
                <a:latin typeface="Aptos"/>
                <a:ea typeface="Aptos"/>
                <a:cs typeface="Aptos"/>
              </a:defRPr>
            </a:pPr>
            <a:r>
              <a:rPr sz="1275" b="1">
                <a:solidFill>
                  <a:srgbClr val="155EEF"/>
                </a:solidFill>
                <a:latin typeface="Aptos"/>
                <a:ea typeface="Aptos"/>
                <a:cs typeface="Aptos"/>
              </a:rPr>
              <a:t>OPERATING QUESTION</a:t>
            </a:r>
          </a:p>
        </p:txBody>
      </p:sp>
      <p:sp>
        <p:nvSpPr>
          <p:cNvPr id="7" name="">
            <a:extLst xmlns:a="http://schemas.openxmlformats.org/drawingml/2006/main">
              <a:ext uri="{FF2B5EF4-FFF2-40B4-BE49-F238E27FC236}">
                <a16:creationId xmlns:a16="http://schemas.microsoft.com/office/drawing/2014/main" id="{DCCEBC77-4C45-4A96-8BFE-A875F2188D09}"/>
              </a:ext>
            </a:extLst>
          </p:cNvPr>
          <p:cNvSpPr>
            <a:spLocks xmlns:a="http://schemas.openxmlformats.org/drawingml/2006/main" noGrp="1"/>
          </p:cNvSpPr>
          <p:nvPr/>
        </p:nvSpPr>
        <p:spPr>
          <a:xfrm xmlns:a="http://schemas.openxmlformats.org/drawingml/2006/main">
            <a:off x="819150" y="409575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06"/>
          </a:bodyPr>
          <a:lstStyle xmlns:a="http://schemas.openxmlformats.org/drawingml/2006/main"/>
          <a:p xmlns:a="http://schemas.openxmlformats.org/drawingml/2006/main">
            <a:pPr algn="l">
              <a:defRPr sz="1950" b="1">
                <a:solidFill>
                  <a:srgbClr val="111827"/>
                </a:solidFill>
                <a:latin typeface="Aptos"/>
                <a:ea typeface="Aptos"/>
                <a:cs typeface="Aptos"/>
              </a:defRPr>
            </a:pPr>
            <a:r>
              <a:rPr sz="1950" b="1">
                <a:solidFill>
                  <a:srgbClr val="111827"/>
                </a:solidFill>
                <a:latin typeface="Aptos"/>
                <a:ea typeface="Aptos"/>
                <a:cs typeface="Aptos"/>
              </a:rPr>
              <a:t>If engineers can review 10% of records, how many failures concentrate at the top?</a:t>
            </a:r>
          </a:p>
        </p:txBody>
      </p:sp>
      <p:sp>
        <p:nvSpPr>
          <p:cNvPr id="8" name="">
            <a:extLst xmlns:a="http://schemas.openxmlformats.org/drawingml/2006/main">
              <a:ext uri="{FF2B5EF4-FFF2-40B4-BE49-F238E27FC236}">
                <a16:creationId xmlns:a16="http://schemas.microsoft.com/office/drawing/2014/main" id="{E4DBFDAD-C27F-4315-9EE6-729388A0E862}"/>
              </a:ext>
            </a:extLst>
          </p:cNvPr>
          <p:cNvSpPr>
            <a:spLocks xmlns:a="http://schemas.openxmlformats.org/drawingml/2006/main" noGrp="1"/>
          </p:cNvSpPr>
          <p:nvPr/>
        </p:nvSpPr>
        <p:spPr>
          <a:xfrm xmlns:a="http://schemas.openxmlformats.org/drawingml/2006/main">
            <a:off x="571500" y="5286375"/>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485"/>
          </a:bodyPr>
          <a:lstStyle xmlns:a="http://schemas.openxmlformats.org/drawingml/2006/main"/>
          <a:p xmlns:a="http://schemas.openxmlformats.org/drawingml/2006/main">
            <a:pPr algn="l">
              <a:defRPr sz="1650" b="0">
                <a:solidFill>
                  <a:srgbClr val="5B6472"/>
                </a:solidFill>
                <a:latin typeface="Aptos"/>
                <a:ea typeface="Aptos"/>
                <a:cs typeface="Aptos"/>
              </a:defRPr>
            </a:pPr>
            <a:r>
              <a:rPr sz="1650" b="0">
                <a:solidFill>
                  <a:srgbClr val="5B6472"/>
                </a:solidFill>
                <a:latin typeface="Aptos"/>
                <a:ea typeface="Aptos"/>
                <a:cs typeface="Aptos"/>
              </a:rPr>
              <a:t>1,567 records   |   104 failures   |   590 anonymous measurements</a:t>
            </a:r>
          </a:p>
        </p:txBody>
      </p:sp>
      <p:sp>
        <p:nvSpPr>
          <p:cNvPr id="9" name="">
            <a:extLst xmlns:a="http://schemas.openxmlformats.org/drawingml/2006/main">
              <a:ext uri="{FF2B5EF4-FFF2-40B4-BE49-F238E27FC236}">
                <a16:creationId xmlns:a16="http://schemas.microsoft.com/office/drawing/2014/main" id="{36B91C15-4270-4CC2-80DB-B44057CD4CD7}"/>
              </a:ext>
            </a:extLst>
          </p:cNvPr>
          <p:cNvSpPr>
            <a:spLocks xmlns:a="http://schemas.openxmlformats.org/drawingml/2006/main" noGrp="1"/>
          </p:cNvSpPr>
          <p:nvPr/>
        </p:nvSpPr>
        <p:spPr>
          <a:xfrm xmlns:a="http://schemas.openxmlformats.org/drawingml/2006/main">
            <a:off x="6286500" y="819150"/>
            <a:ext cx="5334000" cy="4810125"/>
          </a:xfrm>
          <a:prstGeom xmlns:a="http://schemas.openxmlformats.org/drawingml/2006/main" prst="roundRect">
            <a:avLst>
              <a:gd name="adj" fmla="val 4752"/>
            </a:avLst>
          </a:prstGeom>
          <a:solidFill xmlns:a="http://schemas.openxmlformats.org/drawingml/2006/main">
            <a:srgbClr val="DCEBFF"/>
          </a:solidFill>
          <a:ln xmlns:a="http://schemas.openxmlformats.org/drawingml/2006/main" w="0">
            <a:no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d9dbd15c7af4002"/>
          <a:stretch xmlns:a="http://schemas.openxmlformats.org/drawingml/2006/main"/>
        </p:blipFill>
        <p:spPr>
          <a:xfrm xmlns:a="http://schemas.openxmlformats.org/drawingml/2006/main">
            <a:off x="6572250" y="1463401"/>
            <a:ext cx="4762500" cy="287392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4257B20-AA7D-41FC-A14C-66727EF64E36}"/>
              </a:ext>
            </a:extLst>
          </p:cNvPr>
          <p:cNvSpPr>
            <a:spLocks xmlns:a="http://schemas.openxmlformats.org/drawingml/2006/main" noGrp="1"/>
          </p:cNvSpPr>
          <p:nvPr/>
        </p:nvSpPr>
        <p:spPr>
          <a:xfrm xmlns:a="http://schemas.openxmlformats.org/drawingml/2006/main">
            <a:off x="6619875" y="461962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Official UCI SECOM data (2008)</a:t>
            </a:r>
          </a:p>
        </p:txBody>
      </p:sp>
      <p:sp>
        <p:nvSpPr>
          <p:cNvPr id="12" name="">
            <a:extLst xmlns:a="http://schemas.openxmlformats.org/drawingml/2006/main">
              <a:ext uri="{FF2B5EF4-FFF2-40B4-BE49-F238E27FC236}">
                <a16:creationId xmlns:a16="http://schemas.microsoft.com/office/drawing/2014/main" id="{B8F10955-4934-43BC-A03B-1F70AFF60070}"/>
              </a:ext>
            </a:extLst>
          </p:cNvPr>
          <p:cNvSpPr>
            <a:spLocks xmlns:a="http://schemas.openxmlformats.org/drawingml/2006/main" noGrp="1"/>
          </p:cNvSpPr>
          <p:nvPr/>
        </p:nvSpPr>
        <p:spPr>
          <a:xfrm xmlns:a="http://schemas.openxmlformats.org/drawingml/2006/main">
            <a:off x="6619875" y="4972050"/>
            <a:ext cx="4619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B6472"/>
                </a:solidFill>
                <a:latin typeface="Aptos"/>
                <a:ea typeface="Aptos"/>
                <a:cs typeface="Aptos"/>
              </a:defRPr>
            </a:pPr>
            <a:r>
              <a:rPr sz="1425" b="0">
                <a:solidFill>
                  <a:srgbClr val="5B6472"/>
                </a:solidFill>
                <a:latin typeface="Aptos"/>
                <a:ea typeface="Aptos"/>
                <a:cs typeface="Aptos"/>
              </a:rPr>
              <a:t>Useful for demonstrating disciplined validation; not representative of a modern production fab.</a:t>
            </a:r>
          </a:p>
        </p:txBody>
      </p:sp>
      <p:sp>
        <p:nvSpPr>
          <p:cNvPr id="13" name="">
            <a:extLst xmlns:a="http://schemas.openxmlformats.org/drawingml/2006/main">
              <a:ext uri="{FF2B5EF4-FFF2-40B4-BE49-F238E27FC236}">
                <a16:creationId xmlns:a16="http://schemas.microsoft.com/office/drawing/2014/main" id="{8137321B-5A97-4400-954E-3BF616B54091}"/>
              </a:ext>
            </a:extLst>
          </p:cNvPr>
          <p:cNvSpPr>
            <a:spLocks xmlns:a="http://schemas.openxmlformats.org/drawingml/2006/main" noGrp="1"/>
          </p:cNvSpPr>
          <p:nvPr/>
        </p:nvSpPr>
        <p:spPr>
          <a:xfrm xmlns:a="http://schemas.openxmlformats.org/drawingml/2006/main">
            <a:off x="571500" y="64770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0">
                <a:solidFill>
                  <a:srgbClr val="5B6472"/>
                </a:solidFill>
                <a:latin typeface="Aptos"/>
                <a:ea typeface="Aptos"/>
                <a:cs typeface="Aptos"/>
              </a:defRPr>
            </a:pPr>
            <a:r>
              <a:rPr sz="1200" b="0">
                <a:solidFill>
                  <a:srgbClr val="5B6472"/>
                </a:solidFill>
                <a:latin typeface="Aptos"/>
                <a:ea typeface="Aptos"/>
                <a:cs typeface="Aptos"/>
              </a:rPr>
              <a:t>SEMICON Taiwan case study  |  1/3</a:t>
            </a:r>
          </a:p>
        </p:txBody>
      </p:sp>
    </p:spTree>
    <p:extLst>
      <p:ext uri="{BB962C8B-B14F-4D97-AF65-F5344CB8AC3E}">
        <p14:creationId xmlns:p14="http://schemas.microsoft.com/office/powerpoint/2010/main" val="182612744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25BA381-3225-44EB-8297-4DA389EDB5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238CEC-C072-46D5-A904-FA606D51CE89}"/>
              </a:ext>
            </a:extLst>
          </p:cNvPr>
          <p:cNvSpPr>
            <a:spLocks xmlns:a="http://schemas.openxmlformats.org/drawingml/2006/main" noGrp="1"/>
          </p:cNvSpPr>
          <p:nvPr/>
        </p:nvSpPr>
        <p:spPr>
          <a:xfrm xmlns:a="http://schemas.openxmlformats.org/drawingml/2006/main">
            <a:off x="571500" y="419100"/>
            <a:ext cx="1000125" cy="66675"/>
          </a:xfrm>
          <a:prstGeom xmlns:a="http://schemas.openxmlformats.org/drawingml/2006/main" prst="roundRect">
            <a:avLst>
              <a:gd name="adj" fmla="val 28571"/>
            </a:avLst>
          </a:prstGeom>
          <a:solidFill xmlns:a="http://schemas.openxmlformats.org/drawingml/2006/main">
            <a:srgbClr val="155EE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9892CD-0F59-4469-A183-EAB26C7A128F}"/>
              </a:ext>
            </a:extLst>
          </p:cNvPr>
          <p:cNvSpPr>
            <a:spLocks xmlns:a="http://schemas.openxmlformats.org/drawingml/2006/main" noGrp="1"/>
          </p:cNvSpPr>
          <p:nvPr/>
        </p:nvSpPr>
        <p:spPr>
          <a:xfrm xmlns:a="http://schemas.openxmlformats.org/drawingml/2006/main">
            <a:off x="571500" y="6667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11827"/>
                </a:solidFill>
                <a:latin typeface="Aptos"/>
                <a:ea typeface="Aptos"/>
                <a:cs typeface="Aptos"/>
              </a:defRPr>
            </a:pPr>
            <a:r>
              <a:rPr sz="3600" b="1">
                <a:solidFill>
                  <a:srgbClr val="111827"/>
                </a:solidFill>
                <a:latin typeface="Aptos"/>
                <a:ea typeface="Aptos"/>
                <a:cs typeface="Aptos"/>
              </a:rPr>
              <a:t>Time-aware validation changes the model story</a:t>
            </a:r>
          </a:p>
        </p:txBody>
      </p:sp>
      <p:sp>
        <p:nvSpPr>
          <p:cNvPr id="4" name="">
            <a:extLst xmlns:a="http://schemas.openxmlformats.org/drawingml/2006/main">
              <a:ext uri="{FF2B5EF4-FFF2-40B4-BE49-F238E27FC236}">
                <a16:creationId xmlns:a16="http://schemas.microsoft.com/office/drawing/2014/main" id="{B84E41F4-16A6-4B7E-ADCC-2FC530CA11EA}"/>
              </a:ext>
            </a:extLst>
          </p:cNvPr>
          <p:cNvSpPr>
            <a:spLocks xmlns:a="http://schemas.openxmlformats.org/drawingml/2006/main" noGrp="1"/>
          </p:cNvSpPr>
          <p:nvPr/>
        </p:nvSpPr>
        <p:spPr>
          <a:xfrm xmlns:a="http://schemas.openxmlformats.org/drawingml/2006/main">
            <a:off x="571500" y="1524000"/>
            <a:ext cx="6953250" cy="4381500"/>
          </a:xfrm>
          <a:prstGeom xmlns:a="http://schemas.openxmlformats.org/drawingml/2006/main" prst="roundRect">
            <a:avLst>
              <a:gd name="adj" fmla="val 3913"/>
            </a:avLst>
          </a:prstGeom>
          <a:solidFill xmlns:a="http://schemas.openxmlformats.org/drawingml/2006/main">
            <a:srgbClr val="F4F7FB"/>
          </a:solidFill>
          <a:ln xmlns:a="http://schemas.openxmlformats.org/drawingml/2006/main" w="0">
            <a:no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3df7a505e804b70"/>
          <a:stretch xmlns:a="http://schemas.openxmlformats.org/drawingml/2006/main"/>
        </p:blipFill>
        <p:spPr>
          <a:xfrm xmlns:a="http://schemas.openxmlformats.org/drawingml/2006/main">
            <a:off x="781050" y="1770292"/>
            <a:ext cx="6534150" cy="24982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66FD0E3-4C47-44D7-9571-FF97C8240200}"/>
              </a:ext>
            </a:extLst>
          </p:cNvPr>
          <p:cNvSpPr>
            <a:spLocks xmlns:a="http://schemas.openxmlformats.org/drawingml/2006/main" noGrp="1"/>
          </p:cNvSpPr>
          <p:nvPr/>
        </p:nvSpPr>
        <p:spPr>
          <a:xfrm xmlns:a="http://schemas.openxmlformats.org/drawingml/2006/main">
            <a:off x="876300" y="44767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Primary: first 80% train / last 20% test</a:t>
            </a:r>
          </a:p>
        </p:txBody>
      </p:sp>
      <p:sp>
        <p:nvSpPr>
          <p:cNvPr id="7" name="">
            <a:extLst xmlns:a="http://schemas.openxmlformats.org/drawingml/2006/main">
              <a:ext uri="{FF2B5EF4-FFF2-40B4-BE49-F238E27FC236}">
                <a16:creationId xmlns:a16="http://schemas.microsoft.com/office/drawing/2014/main" id="{EDFEE4C0-F665-4D09-BBE1-CF433F3CDBFD}"/>
              </a:ext>
            </a:extLst>
          </p:cNvPr>
          <p:cNvSpPr>
            <a:spLocks xmlns:a="http://schemas.openxmlformats.org/drawingml/2006/main" noGrp="1"/>
          </p:cNvSpPr>
          <p:nvPr/>
        </p:nvSpPr>
        <p:spPr>
          <a:xfrm xmlns:a="http://schemas.openxmlformats.org/drawingml/2006/main">
            <a:off x="876300" y="4810125"/>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B6472"/>
                </a:solidFill>
                <a:latin typeface="Aptos"/>
                <a:ea typeface="Aptos"/>
                <a:cs typeface="Aptos"/>
              </a:defRPr>
            </a:pPr>
            <a:r>
              <a:rPr sz="1500" b="0">
                <a:solidFill>
                  <a:srgbClr val="5B6472"/>
                </a:solidFill>
                <a:latin typeface="Aptos"/>
                <a:ea typeface="Aptos"/>
                <a:cs typeface="Aptos"/>
              </a:rPr>
              <a:t>Sensitivity: stratified random 80/20. The model ranking reverses across the two views.</a:t>
            </a:r>
          </a:p>
        </p:txBody>
      </p:sp>
      <p:sp>
        <p:nvSpPr>
          <p:cNvPr id="8" name="">
            <a:extLst xmlns:a="http://schemas.openxmlformats.org/drawingml/2006/main">
              <a:ext uri="{FF2B5EF4-FFF2-40B4-BE49-F238E27FC236}">
                <a16:creationId xmlns:a16="http://schemas.microsoft.com/office/drawing/2014/main" id="{10C8C9F5-2AF5-4058-9FE6-281B15A10A0D}"/>
              </a:ext>
            </a:extLst>
          </p:cNvPr>
          <p:cNvSpPr>
            <a:spLocks xmlns:a="http://schemas.openxmlformats.org/drawingml/2006/main" noGrp="1"/>
          </p:cNvSpPr>
          <p:nvPr/>
        </p:nvSpPr>
        <p:spPr>
          <a:xfrm xmlns:a="http://schemas.openxmlformats.org/drawingml/2006/main">
            <a:off x="8001000" y="15811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5400" b="1">
                <a:solidFill>
                  <a:srgbClr val="155EEF"/>
                </a:solidFill>
                <a:latin typeface="Aptos"/>
                <a:ea typeface="Aptos"/>
                <a:cs typeface="Aptos"/>
              </a:defRPr>
            </a:pPr>
            <a:r>
              <a:rPr sz="5400" b="1">
                <a:solidFill>
                  <a:srgbClr val="155EEF"/>
                </a:solidFill>
                <a:latin typeface="Aptos"/>
                <a:ea typeface="Aptos"/>
                <a:cs typeface="Aptos"/>
              </a:rPr>
              <a:t>0.206</a:t>
            </a:r>
          </a:p>
        </p:txBody>
      </p:sp>
      <p:sp>
        <p:nvSpPr>
          <p:cNvPr id="9" name="">
            <a:extLst xmlns:a="http://schemas.openxmlformats.org/drawingml/2006/main">
              <a:ext uri="{FF2B5EF4-FFF2-40B4-BE49-F238E27FC236}">
                <a16:creationId xmlns:a16="http://schemas.microsoft.com/office/drawing/2014/main" id="{DEBBE0E6-2712-4472-A379-59042D9A7167}"/>
              </a:ext>
            </a:extLst>
          </p:cNvPr>
          <p:cNvSpPr>
            <a:spLocks xmlns:a="http://schemas.openxmlformats.org/drawingml/2006/main" noGrp="1"/>
          </p:cNvSpPr>
          <p:nvPr/>
        </p:nvSpPr>
        <p:spPr>
          <a:xfrm xmlns:a="http://schemas.openxmlformats.org/drawingml/2006/main">
            <a:off x="8048625" y="23812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average precision</a:t>
            </a:r>
          </a:p>
        </p:txBody>
      </p:sp>
      <p:sp>
        <p:nvSpPr>
          <p:cNvPr id="10" name="">
            <a:extLst xmlns:a="http://schemas.openxmlformats.org/drawingml/2006/main">
              <a:ext uri="{FF2B5EF4-FFF2-40B4-BE49-F238E27FC236}">
                <a16:creationId xmlns:a16="http://schemas.microsoft.com/office/drawing/2014/main" id="{D549B0F3-0D62-440E-9B73-6CA4ABBDEC8C}"/>
              </a:ext>
            </a:extLst>
          </p:cNvPr>
          <p:cNvSpPr>
            <a:spLocks xmlns:a="http://schemas.openxmlformats.org/drawingml/2006/main" noGrp="1"/>
          </p:cNvSpPr>
          <p:nvPr/>
        </p:nvSpPr>
        <p:spPr>
          <a:xfrm xmlns:a="http://schemas.openxmlformats.org/drawingml/2006/main">
            <a:off x="8048625" y="2686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rPr sz="1350" b="0">
                <a:solidFill>
                  <a:srgbClr val="5B6472"/>
                </a:solidFill>
                <a:latin typeface="Aptos"/>
                <a:ea typeface="Aptos"/>
                <a:cs typeface="Aptos"/>
              </a:rPr>
              <a:t>vs 0.054 holdout prevalence</a:t>
            </a:r>
          </a:p>
        </p:txBody>
      </p:sp>
      <p:sp>
        <p:nvSpPr>
          <p:cNvPr id="11" name="">
            <a:extLst xmlns:a="http://schemas.openxmlformats.org/drawingml/2006/main">
              <a:ext uri="{FF2B5EF4-FFF2-40B4-BE49-F238E27FC236}">
                <a16:creationId xmlns:a16="http://schemas.microsoft.com/office/drawing/2014/main" id="{FD21BED5-8A42-46FC-8B1B-475A1BC1D126}"/>
              </a:ext>
            </a:extLst>
          </p:cNvPr>
          <p:cNvSpPr>
            <a:spLocks xmlns:a="http://schemas.openxmlformats.org/drawingml/2006/main" noGrp="1"/>
          </p:cNvSpPr>
          <p:nvPr/>
        </p:nvSpPr>
        <p:spPr>
          <a:xfrm xmlns:a="http://schemas.openxmlformats.org/drawingml/2006/main">
            <a:off x="8001000" y="314325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950" b="1">
                <a:solidFill>
                  <a:srgbClr val="0E7A53"/>
                </a:solidFill>
                <a:latin typeface="Aptos"/>
                <a:ea typeface="Aptos"/>
                <a:cs typeface="Aptos"/>
              </a:defRPr>
            </a:pPr>
            <a:r>
              <a:rPr sz="4950" b="1">
                <a:solidFill>
                  <a:srgbClr val="0E7A53"/>
                </a:solidFill>
                <a:latin typeface="Aptos"/>
                <a:ea typeface="Aptos"/>
                <a:cs typeface="Aptos"/>
              </a:rPr>
              <a:t>5 of 17</a:t>
            </a:r>
          </a:p>
        </p:txBody>
      </p:sp>
      <p:sp>
        <p:nvSpPr>
          <p:cNvPr id="12" name="">
            <a:extLst xmlns:a="http://schemas.openxmlformats.org/drawingml/2006/main">
              <a:ext uri="{FF2B5EF4-FFF2-40B4-BE49-F238E27FC236}">
                <a16:creationId xmlns:a16="http://schemas.microsoft.com/office/drawing/2014/main" id="{92FEF4E9-18E5-41A5-A6BE-4C66E9D855FE}"/>
              </a:ext>
            </a:extLst>
          </p:cNvPr>
          <p:cNvSpPr>
            <a:spLocks xmlns:a="http://schemas.openxmlformats.org/drawingml/2006/main" noGrp="1"/>
          </p:cNvSpPr>
          <p:nvPr/>
        </p:nvSpPr>
        <p:spPr>
          <a:xfrm xmlns:a="http://schemas.openxmlformats.org/drawingml/2006/main">
            <a:off x="8048625" y="39433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failures captured</a:t>
            </a:r>
          </a:p>
        </p:txBody>
      </p:sp>
      <p:sp>
        <p:nvSpPr>
          <p:cNvPr id="13" name="">
            <a:extLst xmlns:a="http://schemas.openxmlformats.org/drawingml/2006/main">
              <a:ext uri="{FF2B5EF4-FFF2-40B4-BE49-F238E27FC236}">
                <a16:creationId xmlns:a16="http://schemas.microsoft.com/office/drawing/2014/main" id="{D6A7DF7A-1673-4264-ADAF-EB6EBAF752A6}"/>
              </a:ext>
            </a:extLst>
          </p:cNvPr>
          <p:cNvSpPr>
            <a:spLocks xmlns:a="http://schemas.openxmlformats.org/drawingml/2006/main" noGrp="1"/>
          </p:cNvSpPr>
          <p:nvPr/>
        </p:nvSpPr>
        <p:spPr>
          <a:xfrm xmlns:a="http://schemas.openxmlformats.org/drawingml/2006/main">
            <a:off x="8048625" y="4248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5B6472"/>
                </a:solidFill>
                <a:latin typeface="Aptos"/>
                <a:ea typeface="Aptos"/>
                <a:cs typeface="Aptos"/>
              </a:defRPr>
            </a:pPr>
            <a:r>
              <a:rPr sz="1350" b="0">
                <a:solidFill>
                  <a:srgbClr val="5B6472"/>
                </a:solidFill>
                <a:latin typeface="Aptos"/>
                <a:ea typeface="Aptos"/>
                <a:cs typeface="Aptos"/>
              </a:rPr>
              <a:t>within 32 reviewed records (10%)</a:t>
            </a:r>
          </a:p>
        </p:txBody>
      </p:sp>
      <p:sp>
        <p:nvSpPr>
          <p:cNvPr id="14" name="">
            <a:extLst xmlns:a="http://schemas.openxmlformats.org/drawingml/2006/main">
              <a:ext uri="{FF2B5EF4-FFF2-40B4-BE49-F238E27FC236}">
                <a16:creationId xmlns:a16="http://schemas.microsoft.com/office/drawing/2014/main" id="{0290EB86-DDC8-46CE-8E18-6BFA906980BA}"/>
              </a:ext>
            </a:extLst>
          </p:cNvPr>
          <p:cNvSpPr>
            <a:spLocks xmlns:a="http://schemas.openxmlformats.org/drawingml/2006/main" noGrp="1"/>
          </p:cNvSpPr>
          <p:nvPr/>
        </p:nvSpPr>
        <p:spPr>
          <a:xfrm xmlns:a="http://schemas.openxmlformats.org/drawingml/2006/main">
            <a:off x="7905750" y="4810125"/>
            <a:ext cx="3476625" cy="1095375"/>
          </a:xfrm>
          <a:prstGeom xmlns:a="http://schemas.openxmlformats.org/drawingml/2006/main" prst="roundRect">
            <a:avLst>
              <a:gd name="adj" fmla="val 12174"/>
            </a:avLst>
          </a:prstGeom>
          <a:solidFill xmlns:a="http://schemas.openxmlformats.org/drawingml/2006/main">
            <a:srgbClr val="DCE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8D91F06-F093-436C-9A9A-067F386E2A61}"/>
              </a:ext>
            </a:extLst>
          </p:cNvPr>
          <p:cNvSpPr>
            <a:spLocks xmlns:a="http://schemas.openxmlformats.org/drawingml/2006/main" noGrp="1"/>
          </p:cNvSpPr>
          <p:nvPr/>
        </p:nvSpPr>
        <p:spPr>
          <a:xfrm xmlns:a="http://schemas.openxmlformats.org/drawingml/2006/main">
            <a:off x="8115300" y="49720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155EEF"/>
                </a:solidFill>
                <a:latin typeface="Aptos"/>
                <a:ea typeface="Aptos"/>
                <a:cs typeface="Aptos"/>
              </a:defRPr>
            </a:pPr>
            <a:r>
              <a:rPr sz="1275" b="1">
                <a:solidFill>
                  <a:srgbClr val="155EEF"/>
                </a:solidFill>
                <a:latin typeface="Aptos"/>
                <a:ea typeface="Aptos"/>
                <a:cs typeface="Aptos"/>
              </a:rPr>
              <a:t>Core finding</a:t>
            </a:r>
          </a:p>
        </p:txBody>
      </p:sp>
      <p:sp>
        <p:nvSpPr>
          <p:cNvPr id="16" name="">
            <a:extLst xmlns:a="http://schemas.openxmlformats.org/drawingml/2006/main">
              <a:ext uri="{FF2B5EF4-FFF2-40B4-BE49-F238E27FC236}">
                <a16:creationId xmlns:a16="http://schemas.microsoft.com/office/drawing/2014/main" id="{26C00361-4534-425B-8AE6-71819E9B7CD5}"/>
              </a:ext>
            </a:extLst>
          </p:cNvPr>
          <p:cNvSpPr>
            <a:spLocks xmlns:a="http://schemas.openxmlformats.org/drawingml/2006/main" noGrp="1"/>
          </p:cNvSpPr>
          <p:nvPr/>
        </p:nvSpPr>
        <p:spPr>
          <a:xfrm xmlns:a="http://schemas.openxmlformats.org/drawingml/2006/main">
            <a:off x="8115300" y="5238750"/>
            <a:ext cx="3028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72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Regularized logistic leads chronologically; the forest leads under random splitting.</a:t>
            </a:r>
          </a:p>
        </p:txBody>
      </p:sp>
      <p:sp>
        <p:nvSpPr>
          <p:cNvPr id="17" name="">
            <a:extLst xmlns:a="http://schemas.openxmlformats.org/drawingml/2006/main">
              <a:ext uri="{FF2B5EF4-FFF2-40B4-BE49-F238E27FC236}">
                <a16:creationId xmlns:a16="http://schemas.microsoft.com/office/drawing/2014/main" id="{E65CD215-3306-46EF-B3AE-46251771B9E1}"/>
              </a:ext>
            </a:extLst>
          </p:cNvPr>
          <p:cNvSpPr>
            <a:spLocks xmlns:a="http://schemas.openxmlformats.org/drawingml/2006/main" noGrp="1"/>
          </p:cNvSpPr>
          <p:nvPr/>
        </p:nvSpPr>
        <p:spPr>
          <a:xfrm xmlns:a="http://schemas.openxmlformats.org/drawingml/2006/main">
            <a:off x="571500" y="64770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0">
                <a:solidFill>
                  <a:srgbClr val="5B6472"/>
                </a:solidFill>
                <a:latin typeface="Aptos"/>
                <a:ea typeface="Aptos"/>
                <a:cs typeface="Aptos"/>
              </a:defRPr>
            </a:pPr>
            <a:r>
              <a:rPr sz="1200" b="0">
                <a:solidFill>
                  <a:srgbClr val="5B6472"/>
                </a:solidFill>
                <a:latin typeface="Aptos"/>
                <a:ea typeface="Aptos"/>
                <a:cs typeface="Aptos"/>
              </a:rPr>
              <a:t>SEMICON Taiwan case study  |  2/3</a:t>
            </a:r>
          </a:p>
        </p:txBody>
      </p:sp>
    </p:spTree>
    <p:extLst>
      <p:ext uri="{BB962C8B-B14F-4D97-AF65-F5344CB8AC3E}">
        <p14:creationId xmlns:p14="http://schemas.microsoft.com/office/powerpoint/2010/main" val="8065245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247F65E-A11A-47C4-9EB9-4CA3D93D1B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4ABA6D-E451-45B0-9C02-7C93DDE125C8}"/>
              </a:ext>
            </a:extLst>
          </p:cNvPr>
          <p:cNvSpPr>
            <a:spLocks xmlns:a="http://schemas.openxmlformats.org/drawingml/2006/main" noGrp="1"/>
          </p:cNvSpPr>
          <p:nvPr/>
        </p:nvSpPr>
        <p:spPr>
          <a:xfrm xmlns:a="http://schemas.openxmlformats.org/drawingml/2006/main">
            <a:off x="571500" y="419100"/>
            <a:ext cx="1000125" cy="66675"/>
          </a:xfrm>
          <a:prstGeom xmlns:a="http://schemas.openxmlformats.org/drawingml/2006/main" prst="roundRect">
            <a:avLst>
              <a:gd name="adj" fmla="val 28571"/>
            </a:avLst>
          </a:prstGeom>
          <a:solidFill xmlns:a="http://schemas.openxmlformats.org/drawingml/2006/main">
            <a:srgbClr val="155EE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34EB58-0BA0-4F95-9B6B-22F82AE754D0}"/>
              </a:ext>
            </a:extLst>
          </p:cNvPr>
          <p:cNvSpPr>
            <a:spLocks xmlns:a="http://schemas.openxmlformats.org/drawingml/2006/main" noGrp="1"/>
          </p:cNvSpPr>
          <p:nvPr/>
        </p:nvSpPr>
        <p:spPr>
          <a:xfrm xmlns:a="http://schemas.openxmlformats.org/drawingml/2006/main">
            <a:off x="571500" y="6667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11827"/>
                </a:solidFill>
                <a:latin typeface="Aptos"/>
                <a:ea typeface="Aptos"/>
                <a:cs typeface="Aptos"/>
              </a:defRPr>
            </a:pPr>
            <a:r>
              <a:rPr sz="3600" b="1">
                <a:solidFill>
                  <a:srgbClr val="111827"/>
                </a:solidFill>
                <a:latin typeface="Aptos"/>
                <a:ea typeface="Aptos"/>
                <a:cs typeface="Aptos"/>
              </a:rPr>
              <a:t>A triage hypothesis—not a root-cause claim</a:t>
            </a:r>
          </a:p>
        </p:txBody>
      </p:sp>
      <p:sp>
        <p:nvSpPr>
          <p:cNvPr id="4" name="">
            <a:extLst xmlns:a="http://schemas.openxmlformats.org/drawingml/2006/main">
              <a:ext uri="{FF2B5EF4-FFF2-40B4-BE49-F238E27FC236}">
                <a16:creationId xmlns:a16="http://schemas.microsoft.com/office/drawing/2014/main" id="{21DA1B9D-2528-4DB5-84B8-0044B2CA4E38}"/>
              </a:ext>
            </a:extLst>
          </p:cNvPr>
          <p:cNvSpPr>
            <a:spLocks xmlns:a="http://schemas.openxmlformats.org/drawingml/2006/main" noGrp="1"/>
          </p:cNvSpPr>
          <p:nvPr/>
        </p:nvSpPr>
        <p:spPr>
          <a:xfrm xmlns:a="http://schemas.openxmlformats.org/drawingml/2006/main">
            <a:off x="571500" y="1285875"/>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5B6472"/>
                </a:solidFill>
                <a:latin typeface="Aptos"/>
                <a:ea typeface="Aptos"/>
                <a:cs typeface="Aptos"/>
              </a:defRPr>
            </a:pPr>
            <a:r>
              <a:rPr sz="1725" b="0">
                <a:solidFill>
                  <a:srgbClr val="5B6472"/>
                </a:solidFill>
                <a:latin typeface="Aptos"/>
                <a:ea typeface="Aptos"/>
                <a:cs typeface="Aptos"/>
              </a:rPr>
              <a:t>The anonymous features support predictive association only.</a:t>
            </a:r>
          </a:p>
        </p:txBody>
      </p:sp>
      <p:sp>
        <p:nvSpPr>
          <p:cNvPr id="5" name="">
            <a:extLst xmlns:a="http://schemas.openxmlformats.org/drawingml/2006/main">
              <a:ext uri="{FF2B5EF4-FFF2-40B4-BE49-F238E27FC236}">
                <a16:creationId xmlns:a16="http://schemas.microsoft.com/office/drawing/2014/main" id="{5F35A60A-DF55-450F-8281-70ED3F145CAC}"/>
              </a:ext>
            </a:extLst>
          </p:cNvPr>
          <p:cNvSpPr>
            <a:spLocks xmlns:a="http://schemas.openxmlformats.org/drawingml/2006/main" noGrp="1"/>
          </p:cNvSpPr>
          <p:nvPr/>
        </p:nvSpPr>
        <p:spPr>
          <a:xfrm xmlns:a="http://schemas.openxmlformats.org/drawingml/2006/main">
            <a:off x="571500" y="1952625"/>
            <a:ext cx="876300" cy="57150"/>
          </a:xfrm>
          <a:prstGeom xmlns:a="http://schemas.openxmlformats.org/drawingml/2006/main" prst="roundRect">
            <a:avLst>
              <a:gd name="adj" fmla="val 33333"/>
            </a:avLst>
          </a:prstGeom>
          <a:solidFill xmlns:a="http://schemas.openxmlformats.org/drawingml/2006/main">
            <a:srgbClr val="155E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B1F3180-41BF-430C-83AA-B249B91E6233}"/>
              </a:ext>
            </a:extLst>
          </p:cNvPr>
          <p:cNvSpPr>
            <a:spLocks xmlns:a="http://schemas.openxmlformats.org/drawingml/2006/main" noGrp="1"/>
          </p:cNvSpPr>
          <p:nvPr/>
        </p:nvSpPr>
        <p:spPr>
          <a:xfrm xmlns:a="http://schemas.openxmlformats.org/drawingml/2006/main">
            <a:off x="571500" y="21240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55EEF"/>
                </a:solidFill>
                <a:latin typeface="Aptos"/>
                <a:ea typeface="Aptos"/>
                <a:cs typeface="Aptos"/>
              </a:defRPr>
            </a:pPr>
            <a:r>
              <a:rPr sz="1350" b="1">
                <a:solidFill>
                  <a:srgbClr val="155EEF"/>
                </a:solidFill>
                <a:latin typeface="Aptos"/>
                <a:ea typeface="Aptos"/>
                <a:cs typeface="Aptos"/>
              </a:rPr>
              <a:t>EVIDENCE</a:t>
            </a:r>
          </a:p>
        </p:txBody>
      </p:sp>
      <p:sp>
        <p:nvSpPr>
          <p:cNvPr id="7" name="">
            <a:extLst xmlns:a="http://schemas.openxmlformats.org/drawingml/2006/main">
              <a:ext uri="{FF2B5EF4-FFF2-40B4-BE49-F238E27FC236}">
                <a16:creationId xmlns:a16="http://schemas.microsoft.com/office/drawing/2014/main" id="{74748A1C-10F4-453C-8C4C-7A7209BB01C4}"/>
              </a:ext>
            </a:extLst>
          </p:cNvPr>
          <p:cNvSpPr>
            <a:spLocks xmlns:a="http://schemas.openxmlformats.org/drawingml/2006/main" noGrp="1"/>
          </p:cNvSpPr>
          <p:nvPr/>
        </p:nvSpPr>
        <p:spPr>
          <a:xfrm xmlns:a="http://schemas.openxmlformats.org/drawingml/2006/main">
            <a:off x="571500" y="248602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2.9x lift at a 10% review budget</a:t>
            </a:r>
          </a:p>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AP 95% bootstrap interval: 0.108–0.424</a:t>
            </a:r>
          </a:p>
        </p:txBody>
      </p:sp>
      <p:sp>
        <p:nvSpPr>
          <p:cNvPr id="8" name="">
            <a:extLst xmlns:a="http://schemas.openxmlformats.org/drawingml/2006/main">
              <a:ext uri="{FF2B5EF4-FFF2-40B4-BE49-F238E27FC236}">
                <a16:creationId xmlns:a16="http://schemas.microsoft.com/office/drawing/2014/main" id="{9673B786-7190-4788-943C-A0BAC701D225}"/>
              </a:ext>
            </a:extLst>
          </p:cNvPr>
          <p:cNvSpPr>
            <a:spLocks xmlns:a="http://schemas.openxmlformats.org/drawingml/2006/main" noGrp="1"/>
          </p:cNvSpPr>
          <p:nvPr/>
        </p:nvSpPr>
        <p:spPr>
          <a:xfrm xmlns:a="http://schemas.openxmlformats.org/drawingml/2006/main">
            <a:off x="6286500" y="1952625"/>
            <a:ext cx="876300" cy="57150"/>
          </a:xfrm>
          <a:prstGeom xmlns:a="http://schemas.openxmlformats.org/drawingml/2006/main" prst="roundRect">
            <a:avLst>
              <a:gd name="adj" fmla="val 33333"/>
            </a:avLst>
          </a:prstGeom>
          <a:solidFill xmlns:a="http://schemas.openxmlformats.org/drawingml/2006/main">
            <a:srgbClr val="0E7A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F70341-884E-45F9-8BE2-1BD3683B85A0}"/>
              </a:ext>
            </a:extLst>
          </p:cNvPr>
          <p:cNvSpPr>
            <a:spLocks xmlns:a="http://schemas.openxmlformats.org/drawingml/2006/main" noGrp="1"/>
          </p:cNvSpPr>
          <p:nvPr/>
        </p:nvSpPr>
        <p:spPr>
          <a:xfrm xmlns:a="http://schemas.openxmlformats.org/drawingml/2006/main">
            <a:off x="6286500" y="21240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E7A53"/>
                </a:solidFill>
                <a:latin typeface="Aptos"/>
                <a:ea typeface="Aptos"/>
                <a:cs typeface="Aptos"/>
              </a:defRPr>
            </a:pPr>
            <a:r>
              <a:rPr sz="1350" b="1">
                <a:solidFill>
                  <a:srgbClr val="0E7A53"/>
                </a:solidFill>
                <a:latin typeface="Aptos"/>
                <a:ea typeface="Aptos"/>
                <a:cs typeface="Aptos"/>
              </a:rPr>
              <a:t>LEAKAGE CONTROLS</a:t>
            </a:r>
          </a:p>
        </p:txBody>
      </p:sp>
      <p:sp>
        <p:nvSpPr>
          <p:cNvPr id="10" name="">
            <a:extLst xmlns:a="http://schemas.openxmlformats.org/drawingml/2006/main">
              <a:ext uri="{FF2B5EF4-FFF2-40B4-BE49-F238E27FC236}">
                <a16:creationId xmlns:a16="http://schemas.microsoft.com/office/drawing/2014/main" id="{FF30B692-F2B0-4517-A90E-F4D42642515B}"/>
              </a:ext>
            </a:extLst>
          </p:cNvPr>
          <p:cNvSpPr>
            <a:spLocks xmlns:a="http://schemas.openxmlformats.org/drawingml/2006/main" noGrp="1"/>
          </p:cNvSpPr>
          <p:nvPr/>
        </p:nvSpPr>
        <p:spPr>
          <a:xfrm xmlns:a="http://schemas.openxmlformats.org/drawingml/2006/main">
            <a:off x="6286500" y="248602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Train-only feature filtering, imputation and scaling</a:t>
            </a:r>
          </a:p>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Fixed model settings and capacity rule</a:t>
            </a:r>
          </a:p>
        </p:txBody>
      </p:sp>
      <p:sp>
        <p:nvSpPr>
          <p:cNvPr id="11" name="">
            <a:extLst xmlns:a="http://schemas.openxmlformats.org/drawingml/2006/main">
              <a:ext uri="{FF2B5EF4-FFF2-40B4-BE49-F238E27FC236}">
                <a16:creationId xmlns:a16="http://schemas.microsoft.com/office/drawing/2014/main" id="{ADAF6E7D-0CEB-4924-AD10-E42FACA6941E}"/>
              </a:ext>
            </a:extLst>
          </p:cNvPr>
          <p:cNvSpPr>
            <a:spLocks xmlns:a="http://schemas.openxmlformats.org/drawingml/2006/main" noGrp="1"/>
          </p:cNvSpPr>
          <p:nvPr/>
        </p:nvSpPr>
        <p:spPr>
          <a:xfrm xmlns:a="http://schemas.openxmlformats.org/drawingml/2006/main">
            <a:off x="571500" y="3952875"/>
            <a:ext cx="876300" cy="57150"/>
          </a:xfrm>
          <a:prstGeom xmlns:a="http://schemas.openxmlformats.org/drawingml/2006/main" prst="roundRect">
            <a:avLst>
              <a:gd name="adj" fmla="val 33333"/>
            </a:avLst>
          </a:prstGeom>
          <a:solidFill xmlns:a="http://schemas.openxmlformats.org/drawingml/2006/main">
            <a:srgbClr val="A25B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77860D-ED07-4A67-9CF7-6B8646C0CB2B}"/>
              </a:ext>
            </a:extLst>
          </p:cNvPr>
          <p:cNvSpPr>
            <a:spLocks xmlns:a="http://schemas.openxmlformats.org/drawingml/2006/main" noGrp="1"/>
          </p:cNvSpPr>
          <p:nvPr/>
        </p:nvSpPr>
        <p:spPr>
          <a:xfrm xmlns:a="http://schemas.openxmlformats.org/drawingml/2006/main">
            <a:off x="571500" y="41243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A25B00"/>
                </a:solidFill>
                <a:latin typeface="Aptos"/>
                <a:ea typeface="Aptos"/>
                <a:cs typeface="Aptos"/>
              </a:defRPr>
            </a:pPr>
            <a:r>
              <a:rPr sz="1350" b="1">
                <a:solidFill>
                  <a:srgbClr val="A25B00"/>
                </a:solidFill>
                <a:latin typeface="Aptos"/>
                <a:ea typeface="Aptos"/>
                <a:cs typeface="Aptos"/>
              </a:rPr>
              <a:t>LIMITS</a:t>
            </a:r>
          </a:p>
        </p:txBody>
      </p:sp>
      <p:sp>
        <p:nvSpPr>
          <p:cNvPr id="13" name="">
            <a:extLst xmlns:a="http://schemas.openxmlformats.org/drawingml/2006/main">
              <a:ext uri="{FF2B5EF4-FFF2-40B4-BE49-F238E27FC236}">
                <a16:creationId xmlns:a16="http://schemas.microsoft.com/office/drawing/2014/main" id="{9DE5BBBE-E9FA-4933-9BF6-835D00F70B48}"/>
              </a:ext>
            </a:extLst>
          </p:cNvPr>
          <p:cNvSpPr>
            <a:spLocks xmlns:a="http://schemas.openxmlformats.org/drawingml/2006/main" noGrp="1"/>
          </p:cNvSpPr>
          <p:nvPr/>
        </p:nvSpPr>
        <p:spPr>
          <a:xfrm xmlns:a="http://schemas.openxmlformats.org/drawingml/2006/main">
            <a:off x="571500" y="448627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35"/>
          </a:bodyPr>
          <a:lstStyle xmlns:a="http://schemas.openxmlformats.org/drawingml/2006/main"/>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2008 anonymous data; only 17 holdout failures</a:t>
            </a:r>
          </a:p>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No tool, recipe, product, chamber or lot context</a:t>
            </a:r>
          </a:p>
        </p:txBody>
      </p:sp>
      <p:sp>
        <p:nvSpPr>
          <p:cNvPr id="14" name="">
            <a:extLst xmlns:a="http://schemas.openxmlformats.org/drawingml/2006/main">
              <a:ext uri="{FF2B5EF4-FFF2-40B4-BE49-F238E27FC236}">
                <a16:creationId xmlns:a16="http://schemas.microsoft.com/office/drawing/2014/main" id="{D0CBFE33-C38E-439B-94C9-CEC4422B728E}"/>
              </a:ext>
            </a:extLst>
          </p:cNvPr>
          <p:cNvSpPr>
            <a:spLocks xmlns:a="http://schemas.openxmlformats.org/drawingml/2006/main" noGrp="1"/>
          </p:cNvSpPr>
          <p:nvPr/>
        </p:nvSpPr>
        <p:spPr>
          <a:xfrm xmlns:a="http://schemas.openxmlformats.org/drawingml/2006/main">
            <a:off x="6286500" y="3952875"/>
            <a:ext cx="876300" cy="57150"/>
          </a:xfrm>
          <a:prstGeom xmlns:a="http://schemas.openxmlformats.org/drawingml/2006/main" prst="roundRect">
            <a:avLst>
              <a:gd name="adj" fmla="val 33333"/>
            </a:avLst>
          </a:prstGeom>
          <a:solidFill xmlns:a="http://schemas.openxmlformats.org/drawingml/2006/main">
            <a:srgbClr val="155E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D872721-23FE-43BB-92A6-AFFBFDFF3BF1}"/>
              </a:ext>
            </a:extLst>
          </p:cNvPr>
          <p:cNvSpPr>
            <a:spLocks xmlns:a="http://schemas.openxmlformats.org/drawingml/2006/main" noGrp="1"/>
          </p:cNvSpPr>
          <p:nvPr/>
        </p:nvSpPr>
        <p:spPr>
          <a:xfrm xmlns:a="http://schemas.openxmlformats.org/drawingml/2006/main">
            <a:off x="6286500" y="41243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55EEF"/>
                </a:solidFill>
                <a:latin typeface="Aptos"/>
                <a:ea typeface="Aptos"/>
                <a:cs typeface="Aptos"/>
              </a:defRPr>
            </a:pPr>
            <a:r>
              <a:rPr sz="1350" b="1">
                <a:solidFill>
                  <a:srgbClr val="155EEF"/>
                </a:solidFill>
                <a:latin typeface="Aptos"/>
                <a:ea typeface="Aptos"/>
                <a:cs typeface="Aptos"/>
              </a:rPr>
              <a:t>NEXT EXPERIMENT</a:t>
            </a:r>
          </a:p>
        </p:txBody>
      </p:sp>
      <p:sp>
        <p:nvSpPr>
          <p:cNvPr id="16" name="">
            <a:extLst xmlns:a="http://schemas.openxmlformats.org/drawingml/2006/main">
              <a:ext uri="{FF2B5EF4-FFF2-40B4-BE49-F238E27FC236}">
                <a16:creationId xmlns:a16="http://schemas.microsoft.com/office/drawing/2014/main" id="{0AE03F10-D45F-4893-B7C3-83DD61A84D32}"/>
              </a:ext>
            </a:extLst>
          </p:cNvPr>
          <p:cNvSpPr>
            <a:spLocks xmlns:a="http://schemas.openxmlformats.org/drawingml/2006/main" noGrp="1"/>
          </p:cNvSpPr>
          <p:nvPr/>
        </p:nvSpPr>
        <p:spPr>
          <a:xfrm xmlns:a="http://schemas.openxmlformats.org/drawingml/2006/main">
            <a:off x="6286500" y="448627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Validate on newer forward cohorts</a:t>
            </a:r>
          </a:p>
          <a:p xmlns:a="http://schemas.openxmlformats.org/drawingml/2006/main">
            <a:pPr algn="l">
              <a:defRPr sz="1800" b="1">
                <a:solidFill>
                  <a:srgbClr val="111827"/>
                </a:solidFill>
                <a:latin typeface="Aptos"/>
                <a:ea typeface="Aptos"/>
                <a:cs typeface="Aptos"/>
              </a:defRPr>
            </a:pPr>
            <a:r>
              <a:rPr sz="1800" b="1">
                <a:solidFill>
                  <a:srgbClr val="111827"/>
                </a:solidFill>
                <a:latin typeface="Aptos"/>
                <a:ea typeface="Aptos"/>
                <a:cs typeface="Aptos"/>
              </a:rPr>
              <a:t>Join process context and capture reviewer feedback</a:t>
            </a:r>
          </a:p>
        </p:txBody>
      </p:sp>
      <p:sp>
        <p:nvSpPr>
          <p:cNvPr id="17" name="">
            <a:extLst xmlns:a="http://schemas.openxmlformats.org/drawingml/2006/main">
              <a:ext uri="{FF2B5EF4-FFF2-40B4-BE49-F238E27FC236}">
                <a16:creationId xmlns:a16="http://schemas.microsoft.com/office/drawing/2014/main" id="{02E4B3C7-E45A-4BC8-8D7A-261F315B89A7}"/>
              </a:ext>
            </a:extLst>
          </p:cNvPr>
          <p:cNvSpPr>
            <a:spLocks xmlns:a="http://schemas.openxmlformats.org/drawingml/2006/main" noGrp="1"/>
          </p:cNvSpPr>
          <p:nvPr/>
        </p:nvSpPr>
        <p:spPr>
          <a:xfrm xmlns:a="http://schemas.openxmlformats.org/drawingml/2006/main">
            <a:off x="571500" y="595312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55EEF"/>
                </a:solidFill>
                <a:latin typeface="Aptos"/>
                <a:ea typeface="Aptos"/>
                <a:cs typeface="Aptos"/>
              </a:defRPr>
            </a:pPr>
            <a:r>
              <a:rPr sz="1800" b="1">
                <a:solidFill>
                  <a:srgbClr val="155EEF"/>
                </a:solidFill>
                <a:latin typeface="Aptos"/>
                <a:ea typeface="Aptos"/>
                <a:cs typeface="Aptos"/>
              </a:rPr>
              <a:t>Deployment question: what review capacity and false-alarm cost should set the threshold?</a:t>
            </a:r>
          </a:p>
        </p:txBody>
      </p:sp>
      <p:sp>
        <p:nvSpPr>
          <p:cNvPr id="18" name="">
            <a:extLst xmlns:a="http://schemas.openxmlformats.org/drawingml/2006/main">
              <a:ext uri="{FF2B5EF4-FFF2-40B4-BE49-F238E27FC236}">
                <a16:creationId xmlns:a16="http://schemas.microsoft.com/office/drawing/2014/main" id="{2B7B85A3-4C97-43A5-BB57-9E6E74DF185F}"/>
              </a:ext>
            </a:extLst>
          </p:cNvPr>
          <p:cNvSpPr>
            <a:spLocks xmlns:a="http://schemas.openxmlformats.org/drawingml/2006/main" noGrp="1"/>
          </p:cNvSpPr>
          <p:nvPr/>
        </p:nvSpPr>
        <p:spPr>
          <a:xfrm xmlns:a="http://schemas.openxmlformats.org/drawingml/2006/main">
            <a:off x="571500" y="64770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0">
                <a:solidFill>
                  <a:srgbClr val="5B6472"/>
                </a:solidFill>
                <a:latin typeface="Aptos"/>
                <a:ea typeface="Aptos"/>
                <a:cs typeface="Aptos"/>
              </a:defRPr>
            </a:pPr>
            <a:r>
              <a:rPr sz="1200" b="0">
                <a:solidFill>
                  <a:srgbClr val="5B6472"/>
                </a:solidFill>
                <a:latin typeface="Aptos"/>
                <a:ea typeface="Aptos"/>
                <a:cs typeface="Aptos"/>
              </a:rPr>
              <a:t>SEMICON Taiwan case study  |  3/3</a:t>
            </a:r>
          </a:p>
        </p:txBody>
      </p:sp>
    </p:spTree>
    <p:extLst>
      <p:ext uri="{BB962C8B-B14F-4D97-AF65-F5344CB8AC3E}">
        <p14:creationId xmlns:p14="http://schemas.microsoft.com/office/powerpoint/2010/main" val="2008767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2026-08-22T18:42:16.0640000Z</dcterms:created>
  <dcterms:modified xsi:type="dcterms:W3CDTF">2026-08-22T18:42:16.0650000Z</dcterms:modified>
</coreProperties>
</file>